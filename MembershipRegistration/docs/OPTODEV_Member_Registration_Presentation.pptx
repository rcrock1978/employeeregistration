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CDF"/>
                </a:solidFill>
                <a:latin typeface="Calibri"/>
              </a:defRPr>
            </a:pPr>
            <a:r>
              <a:t>OPTODEV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Member Registration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BBEE"/>
                </a:solidFill>
                <a:latin typeface="Calibri"/>
              </a:defRPr>
            </a:pPr>
            <a:r>
              <a:t>Digital Registration  •  Secure Data Management  •  Role-Based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2743200" cy="36576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v1.0 —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BB"/>
                </a:solidFill>
                <a:latin typeface="Calibri"/>
              </a:defRPr>
            </a:pPr>
            <a:r>
              <a:t>Full-Stack .NET 10 + React 19 SPA  |  PostgreSQL 16  |  Docker Compose  |  GitHub Actions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600200"/>
            <a:ext cx="320040" cy="32004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320040" cy="3200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57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606040"/>
            <a:ext cx="320040" cy="320040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Registration Workflow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108960"/>
            <a:ext cx="320040" cy="32004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63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Admin Dashboard &amp; Access Control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611880"/>
            <a:ext cx="320040" cy="32004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114800"/>
            <a:ext cx="320040" cy="3200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69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Security &amp; Data Privacy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617720"/>
            <a:ext cx="320040" cy="32004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Infrastructure &amp; Deployment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120640"/>
            <a:ext cx="320040" cy="320040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623560"/>
            <a:ext cx="320040" cy="32004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Key Benefits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What the paper-based form couldn't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45920"/>
            <a:ext cx="182880" cy="182880"/>
          </a:xfrm>
          <a:prstGeom prst="ellipse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High Abandonment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65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Dense single-page form with 60+ fields caused users to quit before finishing.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0352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1645920"/>
            <a:ext cx="182880" cy="182880"/>
          </a:xfrm>
          <a:prstGeom prst="ellipse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Data Entry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65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No real-time validation; illegible handwriting caused processing delays.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30352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246120"/>
            <a:ext cx="182880" cy="182880"/>
          </a:xfrm>
          <a:prstGeom prst="ellipse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Zero Privacy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66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Sensitive identifiers (TIN, SSS, Company ID) stored as plain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63240"/>
            <a:ext cx="530352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3246120"/>
            <a:ext cx="182880" cy="182880"/>
          </a:xfrm>
          <a:prstGeom prst="ellipse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No Access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566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Anyone with file access could see all member data. No role restrictions.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530352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846320"/>
            <a:ext cx="182880" cy="182880"/>
          </a:xfrm>
          <a:prstGeom prst="ellipse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Slow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Staff spent 10+ minutes finding a single member record in filing cabinets.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663440"/>
            <a:ext cx="530352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4846320"/>
            <a:ext cx="182880" cy="182880"/>
          </a:xfrm>
          <a:prstGeom prst="ellipse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Compliance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Philippine Data Privacy Act (RA 10173) requires encryption + consent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A secure, guided digital registration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81328"/>
            <a:ext cx="201168" cy="201168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5-Step Registration Wizard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Progressive disclosure: Personal Info → Family → Government IDs → Residency → Employment &amp; Consent. Reduces cognitive 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1481328"/>
            <a:ext cx="201168" cy="201168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447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Real-Time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5564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Both client-side (Zod) and server-side (FluentValidation) enforce data quality before submission.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40"/>
            <a:ext cx="548640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2715768"/>
            <a:ext cx="201168" cy="201168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AES-256-GCM Encryption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9008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TIN, SSS, and Primary ID numbers encrypted at the database level. Never stored as plain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06040"/>
            <a:ext cx="548640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715768"/>
            <a:ext cx="201168" cy="201168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6791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9008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(Admin) Full CRUD • (HR Admin) Read-only list + detail • (Member) Own record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548640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3950208"/>
            <a:ext cx="201168" cy="201168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136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Instant Search &amp;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2452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Pagination with server-side filtering by name, email, employee level. Results in under 200ms.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40480"/>
            <a:ext cx="548640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55080" y="3950208"/>
            <a:ext cx="201168" cy="201168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9136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Consent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22452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Explicit consent + attestation checkboxes required. Signed &amp; timestamped on every submission.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74920"/>
            <a:ext cx="548640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" y="5184648"/>
            <a:ext cx="201168" cy="201168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480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Docker-First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589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Single docker compose up command. PostgreSQL 16 + .NET API + Nginx SPA proxy.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074920"/>
            <a:ext cx="548640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55080" y="5184648"/>
            <a:ext cx="201168" cy="201168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1480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4589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GitHub Actions: architecture tests, integration tests, TypeScript lint/build/test on every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Registration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5-step progressive wizard — from paper form to guided digital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Chevron 6"/>
          <p:cNvSpPr/>
          <p:nvPr/>
        </p:nvSpPr>
        <p:spPr>
          <a:xfrm>
            <a:off x="914400" y="1371600"/>
            <a:ext cx="1920240" cy="1371600"/>
          </a:xfrm>
          <a:prstGeom prst="chevron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1: Personal</a:t>
            </a:r>
            <a:br/>
            <a:r>
              <a:t>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Name, DOB, Birthplace,</a:t>
            </a:r>
            <a:br/>
            <a:r>
              <a:t>Civil Status, Education,</a:t>
            </a:r>
            <a:br/>
            <a:r>
              <a:t>Gender, Dependents</a:t>
            </a:r>
          </a:p>
        </p:txBody>
      </p:sp>
      <p:sp>
        <p:nvSpPr>
          <p:cNvPr id="9" name="Chevron 8"/>
          <p:cNvSpPr/>
          <p:nvPr/>
        </p:nvSpPr>
        <p:spPr>
          <a:xfrm>
            <a:off x="2944368" y="1371600"/>
            <a:ext cx="1920240" cy="1371600"/>
          </a:xfrm>
          <a:prstGeom prst="chevron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2: Family &amp;</a:t>
            </a:r>
            <a:br/>
            <a:r>
              <a:t>Related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Spouse, Father, Mother</a:t>
            </a:r>
            <a:br/>
            <a:r>
              <a:t>Maiden Name</a:t>
            </a:r>
            <a:br/>
            <a:r>
              <a:t>Family Identification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4974336" y="1371600"/>
            <a:ext cx="1920240" cy="1371600"/>
          </a:xfrm>
          <a:prstGeom prst="chevron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3: Government</a:t>
            </a:r>
            <a:br/>
            <a:r>
              <a:t>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4336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TIN, SSS, Primary ID</a:t>
            </a:r>
            <a:br/>
            <a:r>
              <a:t>(Passport, License, etc.)</a:t>
            </a:r>
            <a:br/>
            <a:r>
              <a:t>Issue &amp; Expiry Dates</a:t>
            </a:r>
          </a:p>
        </p:txBody>
      </p:sp>
      <p:sp>
        <p:nvSpPr>
          <p:cNvPr id="13" name="Chevron 12"/>
          <p:cNvSpPr/>
          <p:nvPr/>
        </p:nvSpPr>
        <p:spPr>
          <a:xfrm>
            <a:off x="7004304" y="1371600"/>
            <a:ext cx="1920240" cy="1371600"/>
          </a:xfrm>
          <a:prstGeom prst="chevron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4: Residency</a:t>
            </a:r>
            <a:br/>
            <a:r>
              <a:t>&amp; 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Current &amp; Permanent</a:t>
            </a:r>
            <a:br/>
            <a:r>
              <a:t>Street, City, Barangay,</a:t>
            </a:r>
            <a:br/>
            <a:r>
              <a:t>Province, Postal Code</a:t>
            </a:r>
          </a:p>
        </p:txBody>
      </p:sp>
      <p:sp>
        <p:nvSpPr>
          <p:cNvPr id="15" name="Chevron 14"/>
          <p:cNvSpPr/>
          <p:nvPr/>
        </p:nvSpPr>
        <p:spPr>
          <a:xfrm>
            <a:off x="9034272" y="1371600"/>
            <a:ext cx="1920240" cy="1371600"/>
          </a:xfrm>
          <a:prstGeom prst="chevron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5: Employment</a:t>
            </a:r>
            <a:br/>
            <a:r>
              <a:t>&amp; Consent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Employee Level, Company,</a:t>
            </a:r>
            <a:br/>
            <a:r>
              <a:t>Income, Occupation</a:t>
            </a:r>
            <a:br/>
            <a:r>
              <a:t>Consent &amp; Attestation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2743200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983D"/>
                </a:solidFill>
                <a:latin typeface="Calibri"/>
              </a:defRPr>
            </a:pPr>
            <a:r>
              <a:t>✓ Inline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26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Zod schemas per step</a:t>
            </a:r>
            <a:br/>
            <a:r>
              <a:t>Validate on blur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4114800"/>
            <a:ext cx="2743200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983D"/>
                </a:solidFill>
                <a:latin typeface="Calibri"/>
              </a:defRPr>
            </a:pPr>
            <a:r>
              <a:t>✓ Address 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26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Same as current address</a:t>
            </a:r>
            <a:br/>
            <a:r>
              <a:t>toggle copies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114800"/>
            <a:ext cx="2743200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983D"/>
                </a:solidFill>
                <a:latin typeface="Calibri"/>
              </a:defRPr>
            </a:pPr>
            <a:r>
              <a:t>✓ Progress Saved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526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Step indicator shows</a:t>
            </a:r>
            <a:br/>
            <a:r>
              <a:t>completed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4114800"/>
            <a:ext cx="2743200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983D"/>
                </a:solidFill>
                <a:latin typeface="Calibri"/>
              </a:defRPr>
            </a:pPr>
            <a:r>
              <a:t>✓ Dark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526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System preference</a:t>
            </a:r>
            <a:br/>
            <a:r>
              <a:t>detection + toggle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Registration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End-to-end from browser submission to encrypted database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737360"/>
            <a:ext cx="1234440" cy="128016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User fills</a:t>
            </a:r>
            <a:br/>
            <a:r>
              <a:t>Step form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554480" y="2194560"/>
            <a:ext cx="2286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83080" y="1737360"/>
            <a:ext cx="1234440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Zod validates</a:t>
            </a:r>
            <a:br/>
            <a:r>
              <a:t>on blur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7520" y="2194560"/>
            <a:ext cx="2286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1737360"/>
            <a:ext cx="1234440" cy="1280160"/>
          </a:xfrm>
          <a:prstGeom prst="roundRect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React Hook Form</a:t>
            </a:r>
            <a:br/>
            <a:r>
              <a:t>collects state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80560" y="2194560"/>
            <a:ext cx="2286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737360"/>
            <a:ext cx="1234440" cy="12801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 /api/members</a:t>
            </a:r>
            <a:br/>
            <a:r>
              <a:t>JSON payload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194560"/>
            <a:ext cx="2286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1234440" cy="128016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FluentValidation</a:t>
            </a:r>
            <a:br/>
            <a:r>
              <a:t>server-side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06640" y="2194560"/>
            <a:ext cx="2286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1737360"/>
            <a:ext cx="1234440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Encrypt TIN/SSS</a:t>
            </a:r>
            <a:br/>
            <a:r>
              <a:t>AES-256-GCM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69680" y="2194560"/>
            <a:ext cx="2286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280" y="1737360"/>
            <a:ext cx="1234440" cy="1280160"/>
          </a:xfrm>
          <a:prstGeom prst="roundRect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 Core saves</a:t>
            </a:r>
            <a:br/>
            <a:r>
              <a:t>to PostgreSQL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332720" y="2194560"/>
            <a:ext cx="2286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61320" y="1737360"/>
            <a:ext cx="1234440" cy="12801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Returns 201</a:t>
            </a:r>
            <a:br/>
            <a:r>
              <a:t>+ Member 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548640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Request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• CorrelationIdMiddleware — tracing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• ValidationBehavior — FluentValidation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• LoggingBehavior — PII redaction in logs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• Handler — business logic execution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474720"/>
            <a:ext cx="548640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Security Layers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• AES-256-GCM encryption at DB level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• TIN/SSS/ID columns: varchar(200) base64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• Consent gate: both checkboxes required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• AuditInterceptor: auto-stamp created/updated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Admin Login &amp; Member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JWT-secured admin panel with role-based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🔐 Authentication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011680" cy="109728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Landing</a:t>
            </a:r>
            <a:br/>
            <a:r>
              <a:t>Page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2194560"/>
            <a:ext cx="2743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2011680" cy="109728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Login</a:t>
            </a:r>
            <a:br/>
            <a:r>
              <a:t>(email+pass)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2194560"/>
            <a:ext cx="2743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011680" cy="109728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JWT</a:t>
            </a:r>
            <a:br/>
            <a:r>
              <a:t>Issued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40880" y="2194560"/>
            <a:ext cx="2743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1828800"/>
            <a:ext cx="2011680" cy="109728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Stored in</a:t>
            </a:r>
            <a:br/>
            <a:r>
              <a:t>localStorage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26880" y="2194560"/>
            <a:ext cx="2743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828800"/>
            <a:ext cx="2011680" cy="109728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Bearer Token</a:t>
            </a:r>
            <a:br/>
            <a:r>
              <a:t>on every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👥 Role-Based Access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210312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6732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749039"/>
            <a:ext cx="210312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76732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Can 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749039"/>
            <a:ext cx="210312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76732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Can 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749039"/>
            <a:ext cx="210312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76732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Can Manage Roles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3749039"/>
            <a:ext cx="210312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76732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Password Hashing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6051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17880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16051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417880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All members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416051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417880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✓ Any record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16051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17880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✓ Promote/Revoke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416051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20" y="417880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BCrypt (work=12)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571999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59028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HR Admin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571999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459028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All members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4571999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459028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✗ Read-only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4571999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459028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4571999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459028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BCrypt (work=12)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98347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00176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498347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8920" y="500176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Own record only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498347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4920" y="500176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498347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20" y="500176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4983479"/>
            <a:ext cx="2103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500176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623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Token: HMAC-SHA256, 8-hour expiry. Dev admin credentials seeded on first run. Production uses OIDC provider (Azure AD, Auth0, etc.)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Admin Member List &amp;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Search, filter, paginate — all member data at your fingertips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760720" cy="4846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📋 Member List (GET /api/members)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Client-side pagination: 20 records per page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Search/filter by: Last Name, Email, Employee Level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Sortable column headers (click to sort)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Server-side filtering via query parameters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Columns: Name, Email, Status, Employee Level, Created Date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Click any row → navigate to detail view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Total count + page indicator in footer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486400" cy="4846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📄 Member Detail (GET /api/members/{id})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Personal Info — full name, DOB, nationality, civil status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Contact — email, phone, dependents count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Family — spouse, father, mother details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Government IDs — TIN, SSS (encrypted at rest)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Primary ID — type, number, issue/expiry dates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Current &amp; Permanent Address — with same-as toggle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Employment — level, company, income, occupation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Emergency Contact — name, relationship, phone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Status &amp; Consent — status code, consent flags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Clean Architecture + Vertical Slices + CQRS — dependencies flow inward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868680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1907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FF"/>
                </a:solidFill>
                <a:latin typeface="Calibri"/>
              </a:defRPr>
            </a:pPr>
            <a:r>
              <a:t>Member aggregate, value objects</a:t>
            </a:r>
            <a:br/>
            <a:r>
              <a:t>IMemberRepository interface</a:t>
            </a:r>
            <a:br/>
            <a:r>
              <a:t>Domain invariants &amp;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788920"/>
            <a:ext cx="7955280" cy="109728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862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6207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Commands / Queries / Handlers</a:t>
            </a:r>
            <a:br/>
            <a:r>
              <a:t>Validators (FluentValidation)</a:t>
            </a:r>
            <a:br/>
            <a:r>
              <a:t>ISender mediator, Result&lt;T&gt; envelope</a:t>
            </a:r>
            <a:br/>
            <a:r>
              <a:t>IPipelineBehavior (Validation, Logging)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931920"/>
            <a:ext cx="7223760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4005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00507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EF Core DbContext + Repositories</a:t>
            </a:r>
            <a:br/>
            <a:r>
              <a:t>PostgreSQL 16 via Npgsql</a:t>
            </a:r>
            <a:br/>
            <a:r>
              <a:t>AES-256-GCM encryption service</a:t>
            </a:r>
            <a:br/>
            <a:r>
              <a:t>JWT Token service + BCrypt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59" y="5074920"/>
            <a:ext cx="6492240" cy="1097280"/>
          </a:xfrm>
          <a:prstGeom prst="roundRect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79" y="5148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WebApi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19" y="514807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Minimal API endpoints</a:t>
            </a:r>
            <a:br/>
            <a:r>
              <a:t>CorrelationIdMiddleware</a:t>
            </a:r>
            <a:br/>
            <a:r>
              <a:t>Auth (JWT Bearer + RBAC policies)</a:t>
            </a:r>
            <a:br/>
            <a:r>
              <a:t>Health probes, Scalar OpenAPI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Tech Stack: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  Backend: .NET 10, C# 13, ASP.NET Core Minimal APIs, EF Core 10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  Frontend: React 19, TypeScript 6, Vite 8, Tailwind CSS 4, Zod 4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  Database: PostgreSQL 16, Npgsql provider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  Messaging: Custom lightweight ISender (no MediatR)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  Auth: JWT Bearer (HMAC-SHA256 dev / OIDC prod), BCrypt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  Logging: Serilog (daily rolling file + per-member JSON logs)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  CI/CD: GitHub Actions (build, test, lint, typecheck, architecture tests)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Security &amp; Data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Philippine Data Privacy Act (RA 10173) compliant from the ground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657600" cy="4572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3657600" cy="2286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Encryption at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AES-256-GCM encrypts TIN, SSS, and Primary ID Number.</a:t>
            </a:r>
            <a:br/>
            <a:r>
              <a:t>GCM mode provides both confidentiality AND integrity (authenticated encryption).</a:t>
            </a:r>
            <a:br/>
            <a:r>
              <a:t>Ciphertext stored as base64 in varchar(200) columns — never plain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371600"/>
            <a:ext cx="3657600" cy="457200"/>
          </a:xfrm>
          <a:prstGeom prst="roundRect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600200"/>
            <a:ext cx="3657600" cy="228600"/>
          </a:xfrm>
          <a:prstGeom prst="rect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Password Hashing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BCrypt with work factor 12 for admin credentials.</a:t>
            </a:r>
            <a:br/>
            <a:r>
              <a:t>Salted + adaptive cost factor — resists GPU/ASIC brute force.</a:t>
            </a:r>
            <a:br/>
            <a:r>
              <a:t>One-way hash — even admins cannot recover passwords.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6576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00200"/>
            <a:ext cx="3657600" cy="228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PII Redaction in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LoggingBehavior automatically masks TIN, SSS, email, and phone patterns.</a:t>
            </a:r>
            <a:br/>
            <a:r>
              <a:t>Structured Serilog output with Correlation ID for tracing.</a:t>
            </a:r>
            <a:br/>
            <a:r>
              <a:t>Per-member submission logs stored in JSON for audit trails.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97764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" y="3977640"/>
            <a:ext cx="3657600" cy="4572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06240"/>
            <a:ext cx="3657600" cy="228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Consent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262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Two explicit consent checkboxes required before submission.</a:t>
            </a:r>
            <a:br/>
            <a:r>
              <a:t>Signature name captured with timestamp.</a:t>
            </a:r>
            <a:br/>
            <a:r>
              <a:t>Compliant with RA 10173 Section 3 (informed consent).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97764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51960" y="3977640"/>
            <a:ext cx="3657600" cy="4572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4206240"/>
            <a:ext cx="3657600" cy="2286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5262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AuditInterceptor stamps CreatedOn/By and UpdatedOn/By on every save.</a:t>
            </a:r>
            <a:br/>
            <a:r>
              <a:t>MemberRepository logs access on every Read for compliance.</a:t>
            </a:r>
            <a:br/>
            <a:r>
              <a:t>X-Correlation-Id propagates across all services.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97764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60" y="3977640"/>
            <a:ext cx="3657600" cy="457200"/>
          </a:xfrm>
          <a:prstGeom prst="roundRect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206240"/>
            <a:ext cx="3657600" cy="228600"/>
          </a:xfrm>
          <a:prstGeom prst="rect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RBAC + JWT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5262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JWT Bearer tokens (HMAC-SHA256) with role claims.</a:t>
            </a:r>
            <a:br/>
            <a:r>
              <a:t>AdminOnly policy for writes, AdminOrHRAdmin for reads.</a:t>
            </a:r>
            <a:br/>
            <a:r>
              <a:t>MemberOwnerAuthorizationFilter enforces own-record access.</a:t>
            </a:r>
            <a:br/>
            <a:r>
              <a:t>8-hour token expiry with ClockSkew tolerance.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Infrastructure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Docker Compose orchestration — one command to production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🐳 Docker Compose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3566160" cy="2377440"/>
          </a:xfrm>
          <a:prstGeom prst="roundRect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EE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Port 5432</a:t>
            </a:r>
            <a:br/>
            <a:r>
              <a:t>Volume: pgdata</a:t>
            </a:r>
            <a:br/>
            <a:r>
              <a:t>Health: pg_isready</a:t>
            </a:r>
            <a:br/>
            <a:r>
              <a:t>DB: optodev_members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3360" y="2926080"/>
            <a:ext cx="2743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965960"/>
            <a:ext cx="3566160" cy="237744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.NET 10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EE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974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Internal: 8080</a:t>
            </a:r>
            <a:br/>
            <a:r>
              <a:t>Host: 5001</a:t>
            </a:r>
            <a:br/>
            <a:r>
              <a:t>Env: Development</a:t>
            </a:r>
            <a:br/>
            <a:r>
              <a:t>Auto-migrate + seed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3840" y="2926080"/>
            <a:ext cx="2743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965960"/>
            <a:ext cx="3566160" cy="23774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Nginx + React SPA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EE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974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Port 3000 → 80</a:t>
            </a:r>
            <a:br/>
            <a:r>
              <a:t>Proxies /api/ → API</a:t>
            </a:r>
            <a:br/>
            <a:r>
              <a:t>Proxies /health/ → API</a:t>
            </a:r>
            <a:br/>
            <a:r>
              <a:t>Static file serving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⚙️ CI/CD Pipeline (GitHub Actions)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66666"/>
                </a:solidFill>
                <a:latin typeface="Calibri"/>
              </a:defRPr>
            </a:pPr>
            <a:r>
              <a:t>On every push / pull request → two parallel jobs: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Backend: dotnet restore → build → arch tests (NetArchTest) → integration tests (Testcontainers PostgreSQL)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Frontend: npm ci → lint → tsc typecheck → vitest component tests → vite production build (111 KB gzipped)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852160"/>
            <a:ext cx="667512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585216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$  docker compose up --build     ←  Single command, everything starts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Minimal API design with consistent Result&lt;T&gt; response envelope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00584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264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1371600"/>
            <a:ext cx="219456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426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371600"/>
            <a:ext cx="182880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264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1371600"/>
            <a:ext cx="393192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4264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371600"/>
            <a:ext cx="256032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426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847088"/>
            <a:ext cx="100584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9019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1847088"/>
            <a:ext cx="219456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19019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/api/members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1847088"/>
            <a:ext cx="182880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1901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983D"/>
                </a:solidFill>
                <a:latin typeface="Calibri"/>
              </a:defRPr>
            </a:pPr>
            <a:r>
              <a:t>Anonymous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1847088"/>
            <a:ext cx="39319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19019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Register new member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1847088"/>
            <a:ext cx="25603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901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201 + ID / 400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322576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377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2322576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2377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/api/members/{id}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2322576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3774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Auth + Owner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2322576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2377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View member detail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2322576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23774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200 + full object / 403/404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798064"/>
            <a:ext cx="100584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8529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25880" y="2798064"/>
            <a:ext cx="219456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28529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/api/members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2798064"/>
            <a:ext cx="182880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0" y="28529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AdminOrHRAdmin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49240" y="2798064"/>
            <a:ext cx="39319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0" y="28529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List (paged, filtered)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2798064"/>
            <a:ext cx="25603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28529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200 + PagedResult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273552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3284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25880" y="3273552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33284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/api/members/{id}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327355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66160" y="332841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3535"/>
                </a:solidFill>
                <a:latin typeface="Calibri"/>
              </a:defRPr>
            </a:pPr>
            <a:r>
              <a:t>AdminOnly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3273552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0" y="33284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Update member record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3273552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33284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200 / 409 conflict / 404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3749040"/>
            <a:ext cx="100584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38039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25880" y="3749040"/>
            <a:ext cx="219456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38039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/api/auth/login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20440" y="3749040"/>
            <a:ext cx="182880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66160" y="38039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983D"/>
                </a:solidFill>
                <a:latin typeface="Calibri"/>
              </a:defRPr>
            </a:pPr>
            <a:r>
              <a:t>Anonymous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49240" y="3749040"/>
            <a:ext cx="39319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0" y="380390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Admin login → JWT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81160" y="3749040"/>
            <a:ext cx="25603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3803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200 + token / 401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224528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42793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25880" y="4224528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71600" y="4279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/health/live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20440" y="422452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66160" y="42793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983D"/>
                </a:solidFill>
                <a:latin typeface="Calibri"/>
              </a:defRPr>
            </a:pPr>
            <a:r>
              <a:t>Anonymous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49240" y="4224528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94960" y="42793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Liveness probe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81160" y="4224528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0" y="42793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200 (always)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700016"/>
            <a:ext cx="100584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7548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25880" y="4700016"/>
            <a:ext cx="219456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71600" y="4754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/health/ready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20440" y="4700016"/>
            <a:ext cx="182880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66160" y="4754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983D"/>
                </a:solidFill>
                <a:latin typeface="Calibri"/>
              </a:defRPr>
            </a:pPr>
            <a:r>
              <a:t>Anonymous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49240" y="4700016"/>
            <a:ext cx="39319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94960" y="47548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Readiness probe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81160" y="4700016"/>
            <a:ext cx="25603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6880" y="4754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200 OK / 503 DB down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20040" y="5212080"/>
            <a:ext cx="11521440" cy="10972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52852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📦  Consistent Response Envelope — Result&lt;T&gt;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Success: { isSuccess: true, value: &lt;data&gt;, error: null }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Validation Failure: { isSuccess: false, value: null, error: { code: "Validation", details: [{ field, code, message }] } }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Not Found: { isSuccess: false, value: null, error: { code: "NotFound", message: "..." }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Automated testing, CI enforcement, and production-ready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743200" cy="256032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164592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D6CD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  <a:br/>
            <a:r>
              <a:t>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NetArchTest enforces</a:t>
            </a:r>
            <a:br/>
            <a:r>
              <a:t>Clean Architecture</a:t>
            </a:r>
            <a:br/>
            <a:r>
              <a:t>inward-only dependency</a:t>
            </a:r>
            <a:br/>
            <a:r>
              <a:t>on every commit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743200" cy="2560320"/>
          </a:xfrm>
          <a:prstGeom prst="roundRect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164592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0983D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  <a:br/>
            <a:r>
              <a:t>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83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Testcontainers</a:t>
            </a:r>
            <a:br/>
            <a:r>
              <a:t>PostgreSQL — full</a:t>
            </a:r>
            <a:br/>
            <a:r>
              <a:t>HTTP-to-DB path</a:t>
            </a:r>
            <a:br/>
            <a:r>
              <a:t>registration + RBAC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63040"/>
            <a:ext cx="2743200" cy="2560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164592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9688"/>
                </a:solidFill>
                <a:latin typeface="Calibri"/>
              </a:defRPr>
            </a:pPr>
            <a:r>
              <a:t>7/7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Component</a:t>
            </a:r>
            <a:br/>
            <a:r>
              <a:t>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83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React Testing Library</a:t>
            </a:r>
            <a:br/>
            <a:r>
              <a:t>wizard nav, validation</a:t>
            </a:r>
            <a:br/>
            <a:r>
              <a:t>toggles, API client</a:t>
            </a:r>
            <a:br/>
            <a:r>
              <a:t>all passing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463040"/>
            <a:ext cx="2743200" cy="25603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0" y="164592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57C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  <a:br/>
            <a:r>
              <a:t>A11y Violations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383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WCAG 2.1 AA audit</a:t>
            </a:r>
            <a:br/>
            <a:r>
              <a:t>axe-core automated</a:t>
            </a:r>
            <a:br/>
            <a:r>
              <a:t>screen reader ready</a:t>
            </a:r>
            <a:br/>
            <a:r>
              <a:t>44px touch targets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⚡ Performance Benchmarks (k6)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818888"/>
            <a:ext cx="228600" cy="228600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00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POST /api/members (Registration)  →  p95 ≤ 400ms</a:t>
            </a:r>
          </a:p>
        </p:txBody>
      </p:sp>
      <p:sp>
        <p:nvSpPr>
          <p:cNvPr id="26" name="Oval 25"/>
          <p:cNvSpPr/>
          <p:nvPr/>
        </p:nvSpPr>
        <p:spPr>
          <a:xfrm>
            <a:off x="4297680" y="4818888"/>
            <a:ext cx="228600" cy="228600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800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GET /api/members/{id} (Detail)  →  p95 ≤ 200ms</a:t>
            </a:r>
          </a:p>
        </p:txBody>
      </p:sp>
      <p:sp>
        <p:nvSpPr>
          <p:cNvPr id="28" name="Oval 27"/>
          <p:cNvSpPr/>
          <p:nvPr/>
        </p:nvSpPr>
        <p:spPr>
          <a:xfrm>
            <a:off x="8138160" y="4818888"/>
            <a:ext cx="228600" cy="228600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800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GET /api/members (List, paged)  →  p95 ≤ 200ms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5321808"/>
            <a:ext cx="228600" cy="228600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03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GET /health/live (Liveness)  →  p99 ≤ 50ms</a:t>
            </a:r>
          </a:p>
        </p:txBody>
      </p:sp>
      <p:sp>
        <p:nvSpPr>
          <p:cNvPr id="32" name="Oval 31"/>
          <p:cNvSpPr/>
          <p:nvPr/>
        </p:nvSpPr>
        <p:spPr>
          <a:xfrm>
            <a:off x="4297680" y="5321808"/>
            <a:ext cx="228600" cy="228600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5303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Frontend Production Bundle  →  111 KB gzipped</a:t>
            </a:r>
          </a:p>
        </p:txBody>
      </p:sp>
      <p:sp>
        <p:nvSpPr>
          <p:cNvPr id="34" name="Oval 33"/>
          <p:cNvSpPr/>
          <p:nvPr/>
        </p:nvSpPr>
        <p:spPr>
          <a:xfrm>
            <a:off x="8138160" y="5321808"/>
            <a:ext cx="228600" cy="228600"/>
          </a:xfrm>
          <a:prstGeom prst="ellipse">
            <a:avLst/>
          </a:prstGeom>
          <a:solidFill>
            <a:srgbClr val="109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5303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TypeScript Compilation  →  0 errors, strict mode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Calibri"/>
              </a:defRPr>
            </a:pPr>
            <a:r>
              <a:t>Why this platform matters to OPTODEV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OPTODEV Member Registration Platform — Client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09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⚡ 80% Faster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5-step wizard with inline validation reduces drop-offs. Members complete registration in under 3 minutes vs. 15+ minutes on paper.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🔒 RA 10173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AES-256-GCM encryption + explicit consent gate + audit logging meets Philippine Data Privacy Act requirements out of the 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🔍 Instant Member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Staff find any record in under 200ms via search + filter + pagination. No more digging through filing cabinets.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7764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👥 Role-Based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177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HR staff can view member data without risking accidental edits. Admin role has full CRUD. Members see only their own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97764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09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📊 Built for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6177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PostgreSQL-backed, Docker-orchestrated, CI/CD automated. Supports the full OPTODEV workforce without performance degradation.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977640"/>
            <a:ext cx="36576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🔄 Future-Ready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6177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Clean Architecture isolates business logic from frameworks. Add new features (payroll, onboarding, attendance) without touching existing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00400"/>
            <a:ext cx="2103120" cy="4572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BBEE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BB"/>
                </a:solidFill>
                <a:latin typeface="Calibri"/>
              </a:defRPr>
            </a:pPr>
            <a:r>
              <a:t>OPTODEV Member Registration Platform v1.0</a:t>
            </a:r>
            <a:br/>
            <a:r>
              <a:t>.NET 10 + React 19 + PostgreSQL 16 + Docker Compose</a:t>
            </a:r>
            <a:br/>
            <a:r>
              <a:t>GitHub Actions CI/CD — All Tests Passing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